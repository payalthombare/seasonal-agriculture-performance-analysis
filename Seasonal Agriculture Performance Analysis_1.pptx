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85" d="100"/>
          <a:sy n="85" d="100"/>
        </p:scale>
        <p:origin x="494" y="-5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3637" y="3561938"/>
            <a:ext cx="8307633" cy="994435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Payal Pravin Thombare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 </a:t>
            </a:r>
            <a:r>
              <a:rPr 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Sharad Institute of Technology College of Engineering</a:t>
            </a:r>
            <a:endParaRPr lang="en-IN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36" y="2685552"/>
            <a:ext cx="8307633" cy="743448"/>
          </a:xfrm>
        </p:spPr>
        <p:txBody>
          <a:bodyPr wrap="square"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13638" y="4556373"/>
            <a:ext cx="515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AICTE STU ID: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STU6763a876e4f491734584438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252074"/>
            <a:ext cx="6431280" cy="3607987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just">
              <a:lnSpc>
                <a:spcPct val="100000"/>
              </a:lnSpc>
            </a:pPr>
            <a:r>
              <a:rPr b="0" dirty="0">
                <a:solidFill>
                  <a:srgbClr val="3737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performance changes with seasonal environmental conditions, farming practices, resource availability and market conditions. Raw farm-level data does not clearly reveal these differences. The project analyzes 4,000 farm-season records to identify meaningful seasonal patterns, trends, relationships and variations in yield, profitability, resource use and environmental conditions.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/>
          </a:bodyPr>
          <a:lstStyle/>
          <a:p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/>
          </a:bodyPr>
          <a:lstStyle/>
          <a:p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0399" y="2347088"/>
            <a:ext cx="7443695" cy="3535327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 algn="just">
              <a:spcAft>
                <a:spcPts val="8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Analyses 4,000 farm-season records across 8 states, 8 crops, 3 seasons and 4 irrigation methods.</a:t>
            </a:r>
          </a:p>
          <a:p>
            <a:pPr algn="just">
              <a:spcAft>
                <a:spcPts val="8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Covers yield, production, revenue, cost, profit, rainfall, soil, nutrients, water use and disease/pest risk.</a:t>
            </a:r>
          </a:p>
          <a:p>
            <a:pPr algn="just">
              <a:spcAft>
                <a:spcPts val="8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Workflow: Data understanding → Data cleaning → EDA → Seasonal/resource/economic analysis → Statistical testing → KPI dashboard → Recommendations.</a:t>
            </a:r>
          </a:p>
          <a:p>
            <a:pPr algn="just">
              <a:spcAft>
                <a:spcPts val="8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KPIs and findings are calculated directly from the dataset; no hard-coded analytical results.</a:t>
            </a:r>
          </a:p>
          <a:p>
            <a:pPr algn="just">
              <a:spcAft>
                <a:spcPts val="800"/>
              </a:spcAft>
              <a:defRPr sz="1500">
                <a:solidFill>
                  <a:srgbClr val="2D3741"/>
                </a:solidFill>
                <a:latin typeface="Aptos"/>
              </a:defRPr>
            </a:pPr>
            <a:r>
              <a:rPr lang="en-US" sz="1600" dirty="0">
                <a:solidFill>
                  <a:srgbClr val="1E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complete data-driven analytics workflow that converts raw agricultural records into statistically validated insights and an actionable dashboard.</a:t>
            </a:r>
          </a:p>
          <a:p>
            <a:pPr algn="just">
              <a:spcAft>
                <a:spcPts val="800"/>
              </a:spcAft>
              <a:defRPr sz="1500">
                <a:solidFill>
                  <a:srgbClr val="2D3741"/>
                </a:solidFill>
                <a:latin typeface="Aptos"/>
              </a:defRPr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4D26EF-A78A-2C21-CE42-4B58F8E46E01}"/>
              </a:ext>
            </a:extLst>
          </p:cNvPr>
          <p:cNvSpPr txBox="1">
            <a:spLocks noGrp="1"/>
          </p:cNvSpPr>
          <p:nvPr>
            <p:ph type="body" sz="quarter" idx="12"/>
          </p:nvPr>
        </p:nvSpPr>
        <p:spPr>
          <a:xfrm>
            <a:off x="720725" y="1990725"/>
            <a:ext cx="7905750" cy="2991588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 marL="0" indent="0" algn="just">
              <a:spcAft>
                <a:spcPts val="800"/>
              </a:spcAft>
              <a:buNone/>
              <a:defRPr sz="1800">
                <a:solidFill>
                  <a:srgbClr val="2D37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Farmers and farm managers — compare seasonal performance and irrigation choices.</a:t>
            </a:r>
          </a:p>
          <a:p>
            <a:pPr marL="0" indent="0" algn="just">
              <a:spcAft>
                <a:spcPts val="800"/>
              </a:spcAft>
              <a:buNone/>
              <a:defRPr sz="1800">
                <a:solidFill>
                  <a:srgbClr val="2D37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Agricultural officers and planners — support evidence-based seasonal planning and resource programs.</a:t>
            </a:r>
          </a:p>
          <a:p>
            <a:pPr marL="0" indent="0" algn="just">
              <a:spcAft>
                <a:spcPts val="800"/>
              </a:spcAft>
              <a:buNone/>
              <a:defRPr sz="1800">
                <a:solidFill>
                  <a:srgbClr val="2D37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Agribusiness analysts — evaluate profitability, production and market-linked performance.</a:t>
            </a:r>
          </a:p>
          <a:p>
            <a:pPr marL="0" indent="0" algn="just">
              <a:spcAft>
                <a:spcPts val="800"/>
              </a:spcAft>
              <a:buNone/>
              <a:defRPr sz="1800">
                <a:solidFill>
                  <a:srgbClr val="2D374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Researchers and students — study relationships between environment, resources and agricultural outcomes.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06840" y="1463105"/>
            <a:ext cx="9337678" cy="3969507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800"/>
              </a:spcAft>
              <a:buNone/>
              <a:defRPr sz="1900">
                <a:solidFill>
                  <a:srgbClr val="2D374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 — core programming and analytics language</a:t>
            </a:r>
          </a:p>
          <a:p>
            <a:pPr marL="0" indent="0" algn="just">
              <a:spcAft>
                <a:spcPts val="800"/>
              </a:spcAft>
              <a:buNone/>
              <a:defRPr sz="1900">
                <a:solidFill>
                  <a:srgbClr val="2D374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Jupyter Notebook — development, analysis and reproducible workflow</a:t>
            </a:r>
          </a:p>
          <a:p>
            <a:pPr marL="0" indent="0" algn="just">
              <a:spcAft>
                <a:spcPts val="800"/>
              </a:spcAft>
              <a:buNone/>
              <a:defRPr sz="1900">
                <a:solidFill>
                  <a:srgbClr val="2D374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Pandas &amp; NumPy — data loading, cleaning, transformation and numerical analysis</a:t>
            </a:r>
          </a:p>
          <a:p>
            <a:pPr marL="0" indent="0" algn="just">
              <a:spcAft>
                <a:spcPts val="800"/>
              </a:spcAft>
              <a:buNone/>
              <a:defRPr sz="1900">
                <a:solidFill>
                  <a:srgbClr val="2D374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Matplotlib &amp; Seaborn — charts, statistical visuals and final dashboard</a:t>
            </a:r>
          </a:p>
          <a:p>
            <a:pPr marL="0" indent="0" algn="just">
              <a:spcAft>
                <a:spcPts val="800"/>
              </a:spcAft>
              <a:buNone/>
              <a:defRPr sz="1900">
                <a:solidFill>
                  <a:srgbClr val="2D3741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SciPy — ANOVA, Welch’s t-test and Spearman correlation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30567"/>
            <a:ext cx="5306291" cy="847817"/>
          </a:xfrm>
        </p:spPr>
        <p:txBody>
          <a:bodyPr wrap="square">
            <a:normAutofit/>
          </a:bodyPr>
          <a:lstStyle/>
          <a:p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30723"/>
            <a:ext cx="2981643" cy="830997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pic>
        <p:nvPicPr>
          <p:cNvPr id="25" name="Picture 24" descr="cell58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8" y="1061720"/>
            <a:ext cx="9638852" cy="560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9405"/>
            <a:ext cx="2981643" cy="680971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2" name="Picture 31" descr="cell27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1234440"/>
            <a:ext cx="5080299" cy="3265842"/>
          </a:xfrm>
          <a:prstGeom prst="rect">
            <a:avLst/>
          </a:prstGeom>
        </p:spPr>
      </p:pic>
      <p:pic>
        <p:nvPicPr>
          <p:cNvPr id="33" name="Picture 32" descr="cell30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846" y="1234440"/>
            <a:ext cx="5163671" cy="314930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5957" y="4892040"/>
            <a:ext cx="9144000" cy="1026948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 algn="just"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yield excluding Sugarcane: Kharif 2.01 t/ha, Rabi 1.75 t/ha, Zaid 1.46 t/ha.</a:t>
            </a:r>
          </a:p>
          <a:p>
            <a:pPr algn="just"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Average profit: ₹178,915 (Kharif), ₹87,689 (Rabi), and −₹24,805 (Zaid).</a:t>
            </a:r>
          </a:p>
          <a:p>
            <a:pPr algn="just"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Loss-making farms rise from 42.2% in Kharif to 64.5% in Zaid.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2" name="Picture 31" descr="cell29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39"/>
            <a:ext cx="5011270" cy="3785795"/>
          </a:xfrm>
          <a:prstGeom prst="rect">
            <a:avLst/>
          </a:prstGeom>
        </p:spPr>
      </p:pic>
      <p:pic>
        <p:nvPicPr>
          <p:cNvPr id="33" name="Picture 32" descr="cell33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459" y="1275370"/>
            <a:ext cx="5011270" cy="364118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9086" y="5425440"/>
            <a:ext cx="8961120" cy="67813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 algn="just">
              <a:spcAft>
                <a:spcPts val="8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Kharif &gt; Rabi &gt; Zaid yield pattern holds for all 8 crops.</a:t>
            </a:r>
          </a:p>
          <a:p>
            <a:pPr algn="just">
              <a:spcAft>
                <a:spcPts val="800"/>
              </a:spcAft>
              <a:defRPr sz="14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Mean rainfall falls from about 852 mm in Kharif to 436 mm in Rabi and 299 mm in Zaid.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74336"/>
            <a:ext cx="2981643" cy="579670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2" name="Picture 31" descr="cell42_ou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39"/>
            <a:ext cx="5268558" cy="3472031"/>
          </a:xfrm>
          <a:prstGeom prst="rect">
            <a:avLst/>
          </a:prstGeom>
        </p:spPr>
      </p:pic>
      <p:pic>
        <p:nvPicPr>
          <p:cNvPr id="33" name="Picture 32" descr="cell38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671" y="1097280"/>
            <a:ext cx="5053571" cy="379387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" y="5103083"/>
            <a:ext cx="8961120" cy="1170577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Drip irrigation provides the best yield and profit performance; Flood uses the most water with the lowest efficiency/profit.</a:t>
            </a:r>
          </a:p>
          <a:p>
            <a:pPr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Water used has the strongest positive resource relationship with yield (Spearman r = 0.264); fertilizer is essentially unrelated (r = 0.002).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2" name="Picture 31" descr="cell45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5220560" cy="3294528"/>
          </a:xfrm>
          <a:prstGeom prst="rect">
            <a:avLst/>
          </a:prstGeom>
        </p:spPr>
      </p:pic>
      <p:pic>
        <p:nvPicPr>
          <p:cNvPr id="33" name="Picture 32" descr="cell49_ou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482" y="1142999"/>
            <a:ext cx="5220561" cy="329452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" y="4983181"/>
            <a:ext cx="8961120" cy="1026948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Overall: ₹255.1 Cr revenue, ₹210.5 Cr cost, ₹44.6 Cr profit and 17.5% profit margin.</a:t>
            </a:r>
          </a:p>
          <a:p>
            <a:pPr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Season effect is significant: log(Yield) ANOVA p=0.00033; Profit ANOVA p&lt;0.001.</a:t>
            </a:r>
          </a:p>
          <a:p>
            <a:pPr>
              <a:spcAft>
                <a:spcPts val="800"/>
              </a:spcAft>
              <a:defRPr sz="1300">
                <a:solidFill>
                  <a:srgbClr val="2D3741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Irrigation effect is significant for yield and profit (p&lt;0.001), while State is not significant (p≈0.60 / 0.56).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40918"/>
            <a:ext cx="4735798" cy="830997"/>
          </a:xfrm>
        </p:spPr>
        <p:txBody>
          <a:bodyPr wrap="square">
            <a:normAutofit/>
          </a:bodyPr>
          <a:lstStyle/>
          <a:p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3A94A0-BD4F-E26B-E7BC-206D5031F6FD}"/>
              </a:ext>
            </a:extLst>
          </p:cNvPr>
          <p:cNvSpPr txBox="1"/>
          <p:nvPr/>
        </p:nvSpPr>
        <p:spPr>
          <a:xfrm>
            <a:off x="788893" y="2058112"/>
            <a:ext cx="8157883" cy="2929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Extend the dataset to multiple years to study year-over-year seasonal trends.</a:t>
            </a:r>
          </a:p>
          <a:p>
            <a:pPr algn="just">
              <a:spcAft>
                <a:spcPts val="8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live weather, soil-moisture and market-price data for near-real-time monitoring.</a:t>
            </a:r>
          </a:p>
          <a:p>
            <a:pPr algn="just">
              <a:spcAft>
                <a:spcPts val="8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predictive models for yield, profit and Zaid-season loss risk.</a:t>
            </a:r>
          </a:p>
          <a:p>
            <a:pPr algn="just">
              <a:spcAft>
                <a:spcPts val="8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crop- and region-specific recommendation modules for irrigation and resource planning.</a:t>
            </a:r>
          </a:p>
          <a:p>
            <a:pPr algn="just">
              <a:spcAft>
                <a:spcPts val="8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the analytics dashboard as an interactive web application for field-level decision support.</a:t>
            </a:r>
          </a:p>
          <a:p>
            <a:endParaRPr lang="en-IN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A44D71-19EB-1380-AE48-7439F8E9EFD0}"/>
              </a:ext>
            </a:extLst>
          </p:cNvPr>
          <p:cNvSpPr/>
          <p:nvPr/>
        </p:nvSpPr>
        <p:spPr>
          <a:xfrm>
            <a:off x="600635" y="6418729"/>
            <a:ext cx="1999130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606788"/>
            <a:ext cx="4735798" cy="830997"/>
          </a:xfrm>
        </p:spPr>
        <p:txBody>
          <a:bodyPr wrap="square">
            <a:normAutofit/>
          </a:bodyPr>
          <a:lstStyle/>
          <a:p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868680" y="1600200"/>
            <a:ext cx="8778240" cy="3631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 dirty="0">
                <a:solidFill>
                  <a:srgbClr val="1E28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331720"/>
            <a:ext cx="8607014" cy="33239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lang="en-IN" dirty="0">
                <a:latin typeface="Aptos"/>
              </a:rPr>
              <a:t>https://github.com/PayalThombare/Seasonal-Agriculture-Performance-Analysis</a:t>
            </a:r>
            <a:endParaRPr sz="1800" b="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 wrap="square">
            <a:normAutofit/>
          </a:bodyPr>
          <a:lstStyle/>
          <a:p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VOIS Course Completion Certificate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15246-93AE-934C-A8AD-6F86E7CC4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11" y="1275371"/>
            <a:ext cx="7458635" cy="50394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00330" y="1631983"/>
            <a:ext cx="11340000" cy="904132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</a:t>
            </a:r>
            <a:r>
              <a:rPr lang="en-US" sz="4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endParaRPr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743200" y="2743200"/>
            <a:ext cx="548640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800" b="1">
                <a:solidFill>
                  <a:srgbClr val="234650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337560"/>
            <a:ext cx="548640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400" b="0">
                <a:solidFill>
                  <a:srgbClr val="505050"/>
                </a:solidFill>
                <a:latin typeface="Aptos"/>
              </a:rPr>
              <a:t>VOIS AICTE Batch 2026–2027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1383</TotalTime>
  <Words>632</Words>
  <Application>Microsoft Office PowerPoint</Application>
  <PresentationFormat>Widescreen</PresentationFormat>
  <Paragraphs>53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Name: Seasonal Agriculture Performance Analysis</vt:lpstr>
      <vt:lpstr>PROBLEM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Course: Data Visualization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Payal Thombare</cp:lastModifiedBy>
  <cp:revision>118</cp:revision>
  <dcterms:created xsi:type="dcterms:W3CDTF">2021-07-11T13:13:15Z</dcterms:created>
  <dcterms:modified xsi:type="dcterms:W3CDTF">2026-09-09T14:45:22Z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